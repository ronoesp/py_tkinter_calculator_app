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1" r:id="rId5"/>
    <p:sldId id="272" r:id="rId6"/>
    <p:sldId id="263" r:id="rId7"/>
    <p:sldId id="274" r:id="rId8"/>
    <p:sldId id="273" r:id="rId9"/>
    <p:sldId id="264" r:id="rId10"/>
    <p:sldId id="260" r:id="rId11"/>
    <p:sldId id="262" r:id="rId12"/>
    <p:sldId id="265" r:id="rId13"/>
    <p:sldId id="266" r:id="rId14"/>
    <p:sldId id="267" r:id="rId15"/>
    <p:sldId id="268" r:id="rId16"/>
    <p:sldId id="269" r:id="rId17"/>
    <p:sldId id="270" r:id="rId18"/>
    <p:sldId id="275" r:id="rId19"/>
    <p:sldId id="276" r:id="rId20"/>
    <p:sldId id="277" r:id="rId21"/>
    <p:sldId id="271" r:id="rId22"/>
    <p:sldId id="278" r:id="rId23"/>
    <p:sldId id="279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2DD31-C7CA-489A-B889-2A936838F457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D0655-7007-499D-8DF1-CB0855BA4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53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D0655-7007-499D-8DF1-CB0855BA40A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874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3BA80-2B81-AAB9-15BD-74A17B8A3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A35441-6BEE-86BB-10FC-08290FCA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7532EB-8D6D-C938-DA93-1DE95A7F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5C8B4D-D85D-81CE-F8E1-46A9CA7E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193F53-8BA6-BD09-F40A-E6D88CF6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7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2FE910-ADD4-E4BF-AACD-D604AC06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4EDD7D-0788-4BF9-1AB9-35E9844DC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484C73-4F1D-F33F-3DCB-6ADA56FF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B019EF-35C7-74DC-AE6E-0C8BD3522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6E4B0C-73E0-F3B7-F37E-8D0977BF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28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2F8BC-8AC9-BF49-1042-4F8F40A80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225390-ACFE-07B3-D299-076F1FC8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654CD2-C870-8609-C8ED-7BE76810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FA2D98-B095-B3C1-D65F-23D202BE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C33E70-6172-9689-1309-2C1545EA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52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CE34B-71DA-AA98-584B-F66B7458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062E22-2A06-BCC4-0911-9B280DF9B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E2759B-0FEF-414C-0DCC-0CFB32715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79C90A-9B63-BA9D-EC38-341A70CC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1E9C3F-1C5E-9F1A-0EA5-44D18069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E93990-FDEA-AA06-9343-720254D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9A331-2472-4ECF-FCB6-7CA29E30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285AD8-4F04-E0EE-90C0-54C4491BD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115E81-ACBB-4DDF-C1BE-DC7E04DD3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1986B97-3FAB-8A8B-DEEE-6346C93AA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17A75C-8ACF-777F-3DB5-F407EA5C0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8B0DA1-5D1F-44C3-B07C-033282D6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139A25-6D94-A28A-6302-2F42323D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590AFB-AA5D-6684-90F0-AD0642A0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927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FFFEDF-7915-567F-3CCA-DD527C89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7E994F-FF30-D007-D4A1-5723F5AE6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B87BA3-BA65-D650-E413-EC3643F7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2C04479-C099-7D50-6AF3-49572C47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81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E8C001-D634-5812-11D0-8751FE68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10E3547-3A78-35F8-5EDB-1BC06E5E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4C87FD-E2F1-ACB3-F23B-4A90713B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434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0D6072-0BF7-E55C-AEF5-E09CB6DB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CEFBB7-0949-92B0-E679-F981D056F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D01715-60BB-7D11-4D4E-BB3B367EC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BA39F0-55A4-E83D-FFCB-D3E15BF7F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0285DB-CD0F-FC3E-CC94-FA3E545D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9EA39D-64F1-2E5A-739B-0984535E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829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D1C8CA-5F1E-7388-CA67-749D9CAE2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5E33EA-EE96-5896-C9A9-3F990A1F0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C6E9BC-046B-595B-BD73-90A23F08F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305FF2-5FE5-ADF3-AB5A-DAD5885C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371673-80D5-48E9-9C8A-C2D42E2D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0C19B8-41DE-FCD7-4F15-C6689436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14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7C33FA-CECC-C288-0078-917E30DF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C7366E-73F6-B9A9-2034-5801B7097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3D940A-DD5E-992D-F4A1-F37673B9F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266E3F-2B0F-2B73-9B63-F699CF54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818D84-8E0F-B0C0-EB0A-D459950B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785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3CE178B-4D26-C60B-BA10-B6A3A500E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7DF660-447A-D15E-85EC-D1D59330B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DE46FF-C428-5468-2D71-3CC943AB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0F4914-FF65-E7AC-DE70-31955A3C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90173C-E032-A36C-473E-AC161C09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37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973CEE-4216-9A05-2E04-120EBF51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639433-B1EF-0CBC-EAE1-308C54555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739FF-3745-E120-1158-521F05F5B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0324D-5657-4476-ADFC-83859F9104E2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21DA50-A278-B519-2C2F-0E1A01764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8013DC-790D-317E-ACDA-BC2B3BC18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FFEC4-E6A7-4C00-A55E-D0FD443BE4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955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DBC8B0-884D-4037-90A9-91BCEF4DD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Python</a:t>
            </a:r>
            <a:r>
              <a:rPr lang="ja-JP" altLang="en-US" dirty="0"/>
              <a:t> </a:t>
            </a:r>
            <a:r>
              <a:rPr kumimoji="1" lang="en-US" altLang="ja-JP" dirty="0"/>
              <a:t>GUI</a:t>
            </a:r>
            <a:br>
              <a:rPr kumimoji="1" lang="en-US" altLang="ja-JP" dirty="0"/>
            </a:br>
            <a:r>
              <a:rPr kumimoji="1" lang="ja-JP" altLang="en-US" dirty="0"/>
              <a:t>電卓アプリケーション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9C8714-62A7-6C28-0A30-CA5D12299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ja-JP" dirty="0"/>
          </a:p>
          <a:p>
            <a:r>
              <a:rPr kumimoji="1" lang="ja-JP" altLang="en-US" dirty="0"/>
              <a:t>ユーザー向け説明書</a:t>
            </a:r>
          </a:p>
        </p:txBody>
      </p:sp>
    </p:spTree>
    <p:extLst>
      <p:ext uri="{BB962C8B-B14F-4D97-AF65-F5344CB8AC3E}">
        <p14:creationId xmlns:p14="http://schemas.microsoft.com/office/powerpoint/2010/main" val="53222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28FF-DB2F-B8E6-AA57-41D5031F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1D391F-66C4-C36F-692B-B78042721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目次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768D16-570D-9919-6292-D07F953E6096}"/>
              </a:ext>
            </a:extLst>
          </p:cNvPr>
          <p:cNvSpPr txBox="1"/>
          <p:nvPr/>
        </p:nvSpPr>
        <p:spPr>
          <a:xfrm>
            <a:off x="379957" y="1903956"/>
            <a:ext cx="114320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■アプリ説明</a:t>
            </a:r>
            <a:endParaRPr lang="en-US" altLang="ja-JP" dirty="0"/>
          </a:p>
          <a:p>
            <a:r>
              <a:rPr lang="ja-JP" altLang="en-US" dirty="0"/>
              <a:t>・画面説明</a:t>
            </a:r>
            <a:endParaRPr kumimoji="1" lang="en-US" altLang="ja-JP" dirty="0"/>
          </a:p>
          <a:p>
            <a:r>
              <a:rPr lang="ja-JP" altLang="en-US" dirty="0"/>
              <a:t>・アプリ仕様について</a:t>
            </a:r>
            <a:endParaRPr lang="en-US" altLang="ja-JP" dirty="0"/>
          </a:p>
          <a:p>
            <a:r>
              <a:rPr kumimoji="1" lang="ja-JP" altLang="en-US" dirty="0"/>
              <a:t>・処理の流れ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■詳細説明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1.</a:t>
            </a:r>
            <a:r>
              <a:rPr lang="ja-JP" altLang="en-US" dirty="0"/>
              <a:t>左辺の入力値作成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en-US" altLang="ja-JP" dirty="0"/>
              <a:t>2.</a:t>
            </a:r>
            <a:r>
              <a:rPr lang="ja-JP" altLang="en-US" dirty="0"/>
              <a:t>左辺の入力値の特殊計算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3.</a:t>
            </a:r>
            <a:r>
              <a:rPr lang="ja-JP" altLang="en-US" dirty="0"/>
              <a:t>演算子入力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en-US" altLang="ja-JP" dirty="0"/>
              <a:t>4.</a:t>
            </a:r>
            <a:r>
              <a:rPr lang="ja-JP" altLang="en-US" dirty="0"/>
              <a:t>右辺の入力値作成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5.</a:t>
            </a:r>
            <a:r>
              <a:rPr lang="ja-JP" altLang="en-US" dirty="0"/>
              <a:t>右辺の入力値の特種計算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6.</a:t>
            </a:r>
            <a:r>
              <a:rPr lang="ja-JP" altLang="en-US" dirty="0"/>
              <a:t>途中計算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en-US" altLang="ja-JP" dirty="0"/>
              <a:t>7.</a:t>
            </a:r>
            <a:r>
              <a:rPr lang="ja-JP" altLang="en-US" dirty="0"/>
              <a:t>計算実行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8.</a:t>
            </a:r>
            <a:r>
              <a:rPr lang="ja-JP" altLang="en-US" dirty="0"/>
              <a:t>エラー処理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485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FE7041-6AC8-98BB-6989-FCF2F8286C99}"/>
              </a:ext>
            </a:extLst>
          </p:cNvPr>
          <p:cNvSpPr txBox="1"/>
          <p:nvPr/>
        </p:nvSpPr>
        <p:spPr>
          <a:xfrm>
            <a:off x="3695343" y="2828835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 dirty="0"/>
              <a:t>アプリ説明</a:t>
            </a:r>
            <a:endParaRPr kumimoji="1" lang="ja-JP" altLang="en-US" sz="7200" dirty="0"/>
          </a:p>
        </p:txBody>
      </p:sp>
    </p:spTree>
    <p:extLst>
      <p:ext uri="{BB962C8B-B14F-4D97-AF65-F5344CB8AC3E}">
        <p14:creationId xmlns:p14="http://schemas.microsoft.com/office/powerpoint/2010/main" val="424149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5DB5-7F85-CF76-9E3D-138FD74B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FFCC6-BAC4-6CD6-722F-41BBAC0C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画面説明 </a:t>
            </a:r>
            <a:r>
              <a:rPr kumimoji="1" lang="en-US" altLang="ja-JP" dirty="0"/>
              <a:t>1/2</a:t>
            </a:r>
            <a:r>
              <a:rPr kumimoji="1" lang="ja-JP" altLang="en-US" dirty="0"/>
              <a:t>：電卓画面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AA3D21-7D28-05C6-844E-71825DA8CBD6}"/>
              </a:ext>
            </a:extLst>
          </p:cNvPr>
          <p:cNvSpPr txBox="1"/>
          <p:nvPr/>
        </p:nvSpPr>
        <p:spPr>
          <a:xfrm>
            <a:off x="4559965" y="1825576"/>
            <a:ext cx="72395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①サブディスプレイ</a:t>
            </a:r>
          </a:p>
          <a:p>
            <a:r>
              <a:rPr lang="ja-JP" altLang="en-US" dirty="0"/>
              <a:t>・計算過程の情報が出力される</a:t>
            </a:r>
          </a:p>
          <a:p>
            <a:r>
              <a:rPr lang="ja-JP" altLang="en-US" dirty="0"/>
              <a:t>②メインディスプレイ</a:t>
            </a:r>
          </a:p>
          <a:p>
            <a:r>
              <a:rPr lang="ja-JP" altLang="en-US" dirty="0"/>
              <a:t>・入力値、計算結果、エラーメッセージが出力される</a:t>
            </a:r>
          </a:p>
          <a:p>
            <a:r>
              <a:rPr lang="ja-JP" altLang="en-US" dirty="0"/>
              <a:t>③ボタン群</a:t>
            </a:r>
          </a:p>
          <a:p>
            <a:r>
              <a:rPr lang="ja-JP" altLang="en-US" dirty="0"/>
              <a:t>・数値の入力、計算式の作成、計算の実行などを行うためのボタン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88194E3-D81B-F1B4-FC9A-6830E5F2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73" y="1825576"/>
            <a:ext cx="2936727" cy="4806156"/>
          </a:xfrm>
          <a:prstGeom prst="rect">
            <a:avLst/>
          </a:prstGeom>
        </p:spPr>
      </p:pic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45FF5F3E-F86C-A54F-3E82-E337F3C120A6}"/>
              </a:ext>
            </a:extLst>
          </p:cNvPr>
          <p:cNvSpPr/>
          <p:nvPr/>
        </p:nvSpPr>
        <p:spPr>
          <a:xfrm>
            <a:off x="4559965" y="3932321"/>
            <a:ext cx="1653799" cy="514988"/>
          </a:xfrm>
          <a:prstGeom prst="wedgeRectCallout">
            <a:avLst>
              <a:gd name="adj1" fmla="val -64911"/>
              <a:gd name="adj2" fmla="val 2022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200" b="1" i="0" u="none" dirty="0"/>
              <a:t>役割毎にボタンを</a:t>
            </a:r>
            <a:endParaRPr kumimoji="1" lang="en-US" altLang="ja-JP" sz="1200" b="1" i="0" u="none" dirty="0"/>
          </a:p>
          <a:p>
            <a:pPr algn="l"/>
            <a:r>
              <a:rPr kumimoji="1" lang="ja-JP" altLang="en-US" sz="1200" b="1" i="0" u="none" dirty="0"/>
              <a:t>色分けしています。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60278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B14D-1B31-5FCD-832E-E539BAF7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9F22A0-4774-0FC6-0A68-BD124DBD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画面説明 </a:t>
            </a:r>
            <a:r>
              <a:rPr kumimoji="1" lang="en-US" altLang="ja-JP" dirty="0"/>
              <a:t>2/2</a:t>
            </a:r>
            <a:r>
              <a:rPr kumimoji="1" lang="ja-JP" altLang="en-US" dirty="0"/>
              <a:t>：</a:t>
            </a:r>
            <a:r>
              <a:rPr lang="ja-JP" altLang="en-US" dirty="0"/>
              <a:t>ボタン説明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900FC9B-BDFB-D0B2-C7FD-F9D22ABFD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48" y="1690688"/>
            <a:ext cx="4905821" cy="476303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46EBD7F-00D0-DC53-C395-C8885EB22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095" y="2099896"/>
            <a:ext cx="6350002" cy="403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31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B7667-E0C9-A2D4-B6F6-4B58ACAB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A3938-4B66-CCED-6AA1-6D9D5CB3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3845" cy="1325563"/>
          </a:xfrm>
        </p:spPr>
        <p:txBody>
          <a:bodyPr/>
          <a:lstStyle/>
          <a:p>
            <a:r>
              <a:rPr lang="ja-JP" altLang="en-US" dirty="0"/>
              <a:t>アプリ仕様について </a:t>
            </a:r>
            <a:r>
              <a:rPr lang="en-US" altLang="ja-JP" dirty="0"/>
              <a:t>1/3</a:t>
            </a:r>
            <a:r>
              <a:rPr lang="ja-JP" altLang="en-US" dirty="0"/>
              <a:t>：画面の拡大縮小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87AF91-E62F-C9CB-CAC2-483E9B3BB415}"/>
              </a:ext>
            </a:extLst>
          </p:cNvPr>
          <p:cNvSpPr txBox="1"/>
          <p:nvPr/>
        </p:nvSpPr>
        <p:spPr>
          <a:xfrm>
            <a:off x="379957" y="1903956"/>
            <a:ext cx="11432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■画面サイズの変更</a:t>
            </a:r>
          </a:p>
          <a:p>
            <a:r>
              <a:rPr lang="ja-JP" altLang="en-US" dirty="0"/>
              <a:t>画面の左右上下を引っ張ることでサイズを変更可能</a:t>
            </a:r>
          </a:p>
          <a:p>
            <a:r>
              <a:rPr lang="ja-JP" altLang="en-US" dirty="0"/>
              <a:t>縦横最大サイズ：</a:t>
            </a:r>
            <a:r>
              <a:rPr lang="en-US" altLang="ja-JP" dirty="0"/>
              <a:t>500 x 500</a:t>
            </a:r>
          </a:p>
          <a:p>
            <a:r>
              <a:rPr lang="ja-JP" altLang="en-US" dirty="0"/>
              <a:t>縦横最小サイズ：</a:t>
            </a:r>
            <a:r>
              <a:rPr lang="en-US" altLang="ja-JP" dirty="0"/>
              <a:t>300 x 300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B906A47-143D-D810-8EBE-F600AC4B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971" y="3753716"/>
            <a:ext cx="2461260" cy="262951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74C3958-8A51-B7F5-19D5-60E340752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031" y="3754501"/>
            <a:ext cx="1445494" cy="256032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2C8D288-39B0-050C-AFCF-0BCBB90EB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191" y="3746881"/>
            <a:ext cx="2499360" cy="170410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B4EA292-8FA2-CC6E-1829-A27E1B647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4532" y="3731641"/>
            <a:ext cx="155956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12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3AE05-8CB3-E566-388F-C5ADD9ED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058447-D02D-56D5-D519-2B3D43DD43D3}"/>
              </a:ext>
            </a:extLst>
          </p:cNvPr>
          <p:cNvSpPr txBox="1"/>
          <p:nvPr/>
        </p:nvSpPr>
        <p:spPr>
          <a:xfrm>
            <a:off x="379957" y="1903956"/>
            <a:ext cx="114320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■入力桁数に関するルール</a:t>
            </a:r>
          </a:p>
          <a:p>
            <a:r>
              <a:rPr lang="ja-JP" altLang="en-US" dirty="0"/>
              <a:t>・入力可能な桁数は</a:t>
            </a:r>
            <a:r>
              <a:rPr lang="en-US" altLang="ja-JP" dirty="0"/>
              <a:t>16</a:t>
            </a:r>
            <a:r>
              <a:rPr lang="ja-JP" altLang="en-US" dirty="0"/>
              <a:t>桁まで</a:t>
            </a:r>
          </a:p>
          <a:p>
            <a:r>
              <a:rPr lang="ja-JP" altLang="en-US" dirty="0"/>
              <a:t>・桁数に符号「</a:t>
            </a:r>
            <a:r>
              <a:rPr lang="en-US" altLang="ja-JP" dirty="0"/>
              <a:t>-</a:t>
            </a:r>
            <a:r>
              <a:rPr lang="ja-JP" altLang="en-US" dirty="0"/>
              <a:t>」、「</a:t>
            </a:r>
            <a:r>
              <a:rPr lang="en-US" altLang="ja-JP" dirty="0"/>
              <a:t>.</a:t>
            </a:r>
            <a:r>
              <a:rPr lang="ja-JP" altLang="en-US" dirty="0"/>
              <a:t>」は含まない</a:t>
            </a:r>
          </a:p>
          <a:p>
            <a:r>
              <a:rPr lang="ja-JP" altLang="en-US" dirty="0"/>
              <a:t>・整数が「０」の時、つまり「</a:t>
            </a:r>
            <a:r>
              <a:rPr lang="en-US" altLang="ja-JP" dirty="0"/>
              <a:t>0.***</a:t>
            </a:r>
            <a:r>
              <a:rPr lang="ja-JP" altLang="en-US" dirty="0"/>
              <a:t>」となる場合は、見た目のけた数は</a:t>
            </a:r>
            <a:r>
              <a:rPr lang="en-US" altLang="ja-JP" dirty="0"/>
              <a:t>17</a:t>
            </a:r>
            <a:r>
              <a:rPr lang="ja-JP" altLang="en-US" dirty="0"/>
              <a:t>桁になります</a:t>
            </a:r>
            <a:endParaRPr lang="en-US" altLang="ja-JP" dirty="0"/>
          </a:p>
          <a:p>
            <a:r>
              <a:rPr lang="ja-JP" altLang="en-US" dirty="0"/>
              <a:t>（ボタン入力可能なのは変わらず</a:t>
            </a:r>
            <a:r>
              <a:rPr lang="en-US" altLang="ja-JP" dirty="0"/>
              <a:t>16</a:t>
            </a:r>
            <a:r>
              <a:rPr lang="ja-JP" altLang="en-US" dirty="0"/>
              <a:t>桁となる）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27BEAE0-4AD2-9C26-99A7-76EF5125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アプリ仕様について </a:t>
            </a:r>
            <a:r>
              <a:rPr lang="en-US" altLang="ja-JP" dirty="0"/>
              <a:t>2/3</a:t>
            </a:r>
            <a:r>
              <a:rPr lang="ja-JP" altLang="en-US" dirty="0"/>
              <a:t>：入力可能桁数</a:t>
            </a:r>
          </a:p>
        </p:txBody>
      </p:sp>
    </p:spTree>
    <p:extLst>
      <p:ext uri="{BB962C8B-B14F-4D97-AF65-F5344CB8AC3E}">
        <p14:creationId xmlns:p14="http://schemas.microsoft.com/office/powerpoint/2010/main" val="2661509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F706-DBEA-C866-8AB1-CAC41E64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5BA62-8945-61B7-2BCD-90CEF763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ja-JP" altLang="en-US" dirty="0"/>
              <a:t>アプリ仕様について </a:t>
            </a:r>
            <a:r>
              <a:rPr lang="en-US" altLang="ja-JP" dirty="0"/>
              <a:t>3/3</a:t>
            </a:r>
            <a:r>
              <a:rPr lang="ja-JP" altLang="en-US" dirty="0"/>
              <a:t>：桁数溢れ時の処理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AD213A1-9CC8-C13D-A5E2-23F0FF445411}"/>
              </a:ext>
            </a:extLst>
          </p:cNvPr>
          <p:cNvSpPr txBox="1"/>
          <p:nvPr/>
        </p:nvSpPr>
        <p:spPr>
          <a:xfrm>
            <a:off x="379957" y="1903956"/>
            <a:ext cx="114320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■指数表記になる</a:t>
            </a:r>
          </a:p>
          <a:p>
            <a:r>
              <a:rPr lang="ja-JP" altLang="en-US" dirty="0"/>
              <a:t>例）</a:t>
            </a:r>
            <a:r>
              <a:rPr lang="en-US" altLang="ja-JP" dirty="0"/>
              <a:t>10</a:t>
            </a:r>
            <a:r>
              <a:rPr lang="ja-JP" altLang="en-US" dirty="0"/>
              <a:t>の</a:t>
            </a:r>
            <a:r>
              <a:rPr lang="en-US" altLang="ja-JP" dirty="0"/>
              <a:t>15</a:t>
            </a:r>
            <a:r>
              <a:rPr lang="ja-JP" altLang="en-US" dirty="0"/>
              <a:t>乗 * </a:t>
            </a:r>
            <a:r>
              <a:rPr lang="en-US" altLang="ja-JP" dirty="0"/>
              <a:t>10</a:t>
            </a:r>
            <a:r>
              <a:rPr lang="ja-JP" altLang="en-US" dirty="0"/>
              <a:t>の</a:t>
            </a:r>
            <a:r>
              <a:rPr lang="en-US" altLang="ja-JP" dirty="0"/>
              <a:t>15</a:t>
            </a:r>
            <a:r>
              <a:rPr lang="ja-JP" altLang="en-US" dirty="0"/>
              <a:t>乗 </a:t>
            </a:r>
            <a:r>
              <a:rPr lang="en-US" altLang="ja-JP" dirty="0"/>
              <a:t>= 10</a:t>
            </a:r>
            <a:r>
              <a:rPr lang="ja-JP" altLang="en-US" dirty="0"/>
              <a:t>の</a:t>
            </a:r>
            <a:r>
              <a:rPr lang="en-US" altLang="ja-JP" dirty="0"/>
              <a:t>30</a:t>
            </a:r>
            <a:r>
              <a:rPr lang="ja-JP" altLang="en-US" dirty="0"/>
              <a:t>乗となった場合</a:t>
            </a:r>
          </a:p>
          <a:p>
            <a:r>
              <a:rPr lang="ja-JP" altLang="en-US" dirty="0"/>
              <a:t>サブディスプレイ　：</a:t>
            </a:r>
            <a:r>
              <a:rPr lang="en-US" altLang="ja-JP" dirty="0"/>
              <a:t>1000000000000000 * 1000000000000000 =</a:t>
            </a:r>
          </a:p>
          <a:p>
            <a:r>
              <a:rPr lang="ja-JP" altLang="en-US" dirty="0"/>
              <a:t>メインディスプレイ：</a:t>
            </a:r>
            <a:r>
              <a:rPr lang="en-US" altLang="ja-JP" dirty="0"/>
              <a:t>1.e+30</a:t>
            </a:r>
          </a:p>
          <a:p>
            <a:endParaRPr lang="en-US" altLang="ja-JP" dirty="0"/>
          </a:p>
          <a:p>
            <a:r>
              <a:rPr lang="ja-JP" altLang="en-US" dirty="0"/>
              <a:t>例）</a:t>
            </a:r>
            <a:r>
              <a:rPr lang="en-US" altLang="ja-JP" dirty="0"/>
              <a:t>10</a:t>
            </a:r>
            <a:r>
              <a:rPr lang="ja-JP" altLang="en-US" dirty="0"/>
              <a:t>の</a:t>
            </a:r>
            <a:r>
              <a:rPr lang="en-US" altLang="ja-JP" dirty="0"/>
              <a:t>-16</a:t>
            </a:r>
            <a:r>
              <a:rPr lang="ja-JP" altLang="en-US" dirty="0"/>
              <a:t>乗 * </a:t>
            </a:r>
            <a:r>
              <a:rPr lang="en-US" altLang="ja-JP" dirty="0"/>
              <a:t>10</a:t>
            </a:r>
            <a:r>
              <a:rPr lang="ja-JP" altLang="en-US" dirty="0"/>
              <a:t>の</a:t>
            </a:r>
            <a:r>
              <a:rPr lang="en-US" altLang="ja-JP" dirty="0"/>
              <a:t>-16</a:t>
            </a:r>
            <a:r>
              <a:rPr lang="ja-JP" altLang="en-US" dirty="0"/>
              <a:t>乗 </a:t>
            </a:r>
            <a:r>
              <a:rPr lang="en-US" altLang="ja-JP" dirty="0"/>
              <a:t>= 10</a:t>
            </a:r>
            <a:r>
              <a:rPr lang="ja-JP" altLang="en-US" dirty="0"/>
              <a:t>の</a:t>
            </a:r>
            <a:r>
              <a:rPr lang="en-US" altLang="ja-JP" dirty="0"/>
              <a:t>-32</a:t>
            </a:r>
            <a:r>
              <a:rPr lang="ja-JP" altLang="en-US" dirty="0"/>
              <a:t>乗となった場合</a:t>
            </a:r>
          </a:p>
          <a:p>
            <a:r>
              <a:rPr lang="ja-JP" altLang="en-US" dirty="0"/>
              <a:t>サブディスプレイ　：</a:t>
            </a:r>
            <a:r>
              <a:rPr lang="en-US" altLang="ja-JP" dirty="0"/>
              <a:t>0.0000000000000001 * 0.0000000000000001 =</a:t>
            </a:r>
          </a:p>
          <a:p>
            <a:r>
              <a:rPr lang="ja-JP" altLang="en-US" dirty="0"/>
              <a:t>メインディスプレイ：</a:t>
            </a:r>
            <a:r>
              <a:rPr lang="en-US" altLang="ja-JP" dirty="0"/>
              <a:t>1.e-32</a:t>
            </a:r>
          </a:p>
          <a:p>
            <a:endParaRPr lang="en-US" altLang="ja-JP" dirty="0"/>
          </a:p>
          <a:p>
            <a:r>
              <a:rPr lang="ja-JP" altLang="en-US" dirty="0"/>
              <a:t>例）計算結果が</a:t>
            </a:r>
            <a:r>
              <a:rPr lang="en-US" altLang="ja-JP" dirty="0"/>
              <a:t>16</a:t>
            </a:r>
            <a:r>
              <a:rPr lang="ja-JP" altLang="en-US" dirty="0"/>
              <a:t>桁目までに収まるなら通常通りの表記</a:t>
            </a:r>
          </a:p>
          <a:p>
            <a:r>
              <a:rPr lang="ja-JP" altLang="en-US" dirty="0"/>
              <a:t>サブディスプレイ　：</a:t>
            </a:r>
            <a:r>
              <a:rPr lang="en-US" altLang="ja-JP" dirty="0"/>
              <a:t>123456789 * 12345678 =</a:t>
            </a:r>
          </a:p>
          <a:p>
            <a:r>
              <a:rPr lang="ja-JP" altLang="en-US" dirty="0"/>
              <a:t>メインディスプレイ：</a:t>
            </a:r>
            <a:r>
              <a:rPr lang="en-US" altLang="ja-JP" dirty="0"/>
              <a:t>1,524,157,763,907,942</a:t>
            </a:r>
          </a:p>
          <a:p>
            <a:endParaRPr lang="en-US" altLang="ja-JP" dirty="0"/>
          </a:p>
          <a:p>
            <a:r>
              <a:rPr lang="ja-JP" altLang="en-US" dirty="0"/>
              <a:t>例）計算結果が</a:t>
            </a:r>
            <a:r>
              <a:rPr lang="en-US" altLang="ja-JP" dirty="0"/>
              <a:t>17</a:t>
            </a:r>
            <a:r>
              <a:rPr lang="ja-JP" altLang="en-US" dirty="0"/>
              <a:t>桁になると、</a:t>
            </a:r>
            <a:r>
              <a:rPr lang="en-US" altLang="ja-JP" dirty="0"/>
              <a:t>17</a:t>
            </a:r>
            <a:r>
              <a:rPr lang="ja-JP" altLang="en-US" dirty="0"/>
              <a:t>桁目以降の数値は「切り捨て」で丸められ、指数表記となる</a:t>
            </a:r>
          </a:p>
          <a:p>
            <a:r>
              <a:rPr lang="ja-JP" altLang="en-US" dirty="0"/>
              <a:t>サブディスプレイ　：</a:t>
            </a:r>
            <a:r>
              <a:rPr lang="en-US" altLang="ja-JP" dirty="0"/>
              <a:t>1524157763907942 * 10</a:t>
            </a:r>
          </a:p>
          <a:p>
            <a:r>
              <a:rPr lang="ja-JP" altLang="en-US" dirty="0"/>
              <a:t>メインディスプレイ：</a:t>
            </a:r>
            <a:r>
              <a:rPr lang="en-US" altLang="ja-JP" dirty="0"/>
              <a:t>1.524157763907942e+16</a:t>
            </a:r>
          </a:p>
        </p:txBody>
      </p:sp>
    </p:spTree>
    <p:extLst>
      <p:ext uri="{BB962C8B-B14F-4D97-AF65-F5344CB8AC3E}">
        <p14:creationId xmlns:p14="http://schemas.microsoft.com/office/powerpoint/2010/main" val="570013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4A21F-A18F-782B-CC00-46B11FAF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90FA5-DF58-EF39-D373-4F35CD3B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処理の流れ：</a:t>
            </a:r>
            <a:r>
              <a:rPr kumimoji="1" lang="en-US" altLang="ja-JP" dirty="0"/>
              <a:t>Phase</a:t>
            </a:r>
            <a:r>
              <a:rPr kumimoji="1" lang="ja-JP" altLang="en-US" dirty="0"/>
              <a:t>変移図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87B55D-633F-09A3-7348-E2F394DDB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98" y="1690688"/>
            <a:ext cx="2191846" cy="4991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A54B205-6750-4615-1389-F2DA6D986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173" y="1983741"/>
            <a:ext cx="2242022" cy="206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2FD21A9-6AAC-583C-9B63-241BEAB97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720" y="4121498"/>
            <a:ext cx="2240280" cy="206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776A45D-8619-C138-F27E-4A5EF3259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004" y="1434259"/>
            <a:ext cx="3867796" cy="5104362"/>
          </a:xfrm>
          <a:prstGeom prst="rect">
            <a:avLst/>
          </a:prstGeom>
        </p:spPr>
      </p:pic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FAC8FDC6-933B-FC22-B04E-9B262455050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232303" y="2774372"/>
            <a:ext cx="1606870" cy="241879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79FFDCD9-5239-0BF6-7657-CB64CBB317C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232303" y="3016251"/>
            <a:ext cx="1606870" cy="261881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AFC4A17C-7B06-CF1F-4720-A010C6092C3F}"/>
              </a:ext>
            </a:extLst>
          </p:cNvPr>
          <p:cNvCxnSpPr>
            <a:cxnSpLocks/>
          </p:cNvCxnSpPr>
          <p:nvPr/>
        </p:nvCxnSpPr>
        <p:spPr>
          <a:xfrm>
            <a:off x="2232303" y="4233326"/>
            <a:ext cx="1606870" cy="241879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94CBA589-BE5E-BE15-66F8-1DA76C28B3EE}"/>
              </a:ext>
            </a:extLst>
          </p:cNvPr>
          <p:cNvCxnSpPr>
            <a:cxnSpLocks/>
          </p:cNvCxnSpPr>
          <p:nvPr/>
        </p:nvCxnSpPr>
        <p:spPr>
          <a:xfrm flipV="1">
            <a:off x="2232303" y="4475205"/>
            <a:ext cx="1606870" cy="261881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4445E5BA-0CEB-01B3-AD33-2FB029318331}"/>
              </a:ext>
            </a:extLst>
          </p:cNvPr>
          <p:cNvCxnSpPr>
            <a:cxnSpLocks/>
          </p:cNvCxnSpPr>
          <p:nvPr/>
        </p:nvCxnSpPr>
        <p:spPr>
          <a:xfrm>
            <a:off x="5746173" y="2167060"/>
            <a:ext cx="3169227" cy="728251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BE3681D5-2F73-7D4B-530D-5598994C4695}"/>
              </a:ext>
            </a:extLst>
          </p:cNvPr>
          <p:cNvCxnSpPr>
            <a:cxnSpLocks/>
          </p:cNvCxnSpPr>
          <p:nvPr/>
        </p:nvCxnSpPr>
        <p:spPr>
          <a:xfrm>
            <a:off x="5746173" y="4303773"/>
            <a:ext cx="3169227" cy="171432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00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1EB5-E158-79A9-F04D-9B308D31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1616AB-1510-71DD-EEAB-EFBAECAACDC8}"/>
              </a:ext>
            </a:extLst>
          </p:cNvPr>
          <p:cNvSpPr txBox="1"/>
          <p:nvPr/>
        </p:nvSpPr>
        <p:spPr>
          <a:xfrm>
            <a:off x="4157007" y="2828835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 dirty="0"/>
              <a:t>詳細説明</a:t>
            </a:r>
            <a:endParaRPr kumimoji="1" lang="ja-JP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56384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1C7B3-F1AD-4DD3-72A0-7651D1D9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43BD34-83ED-B2CC-63DB-83D4FF1A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</a:t>
            </a:r>
            <a:r>
              <a:rPr lang="ja-JP" altLang="en-US" dirty="0"/>
              <a:t>左辺の入力値作成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6105E0-5431-D525-EE5B-8E554C184894}"/>
              </a:ext>
            </a:extLst>
          </p:cNvPr>
          <p:cNvSpPr txBox="1"/>
          <p:nvPr/>
        </p:nvSpPr>
        <p:spPr>
          <a:xfrm>
            <a:off x="574099" y="1690688"/>
            <a:ext cx="285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1.</a:t>
            </a:r>
            <a:r>
              <a:rPr lang="ja-JP" altLang="en-US" dirty="0"/>
              <a:t>値を入力する</a:t>
            </a:r>
          </a:p>
          <a:p>
            <a:r>
              <a:rPr lang="ja-JP" altLang="en-US" dirty="0"/>
              <a:t>使用ボタン：</a:t>
            </a:r>
            <a:r>
              <a:rPr lang="en-US" altLang="ja-JP" dirty="0"/>
              <a:t>0~9 / . / ±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2D9D0EF-370C-3A0C-1DE5-5CE4B334E740}"/>
              </a:ext>
            </a:extLst>
          </p:cNvPr>
          <p:cNvSpPr txBox="1"/>
          <p:nvPr/>
        </p:nvSpPr>
        <p:spPr>
          <a:xfrm>
            <a:off x="4736943" y="1687656"/>
            <a:ext cx="2345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2.</a:t>
            </a:r>
            <a:r>
              <a:rPr lang="ja-JP" altLang="en-US" dirty="0"/>
              <a:t>末尾を１文字削除</a:t>
            </a:r>
          </a:p>
          <a:p>
            <a:r>
              <a:rPr lang="ja-JP" altLang="en-US" dirty="0"/>
              <a:t>使用ボタン：</a:t>
            </a:r>
            <a:r>
              <a:rPr lang="en-US" altLang="ja-JP" dirty="0"/>
              <a:t>x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545A75-D466-4510-E532-21CE9778F7F3}"/>
              </a:ext>
            </a:extLst>
          </p:cNvPr>
          <p:cNvSpPr txBox="1"/>
          <p:nvPr/>
        </p:nvSpPr>
        <p:spPr>
          <a:xfrm>
            <a:off x="8720572" y="1690687"/>
            <a:ext cx="2137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3.</a:t>
            </a:r>
            <a:r>
              <a:rPr lang="ja-JP" altLang="en-US" dirty="0"/>
              <a:t>入力値をクリア</a:t>
            </a:r>
          </a:p>
          <a:p>
            <a:r>
              <a:rPr lang="ja-JP" altLang="en-US" dirty="0"/>
              <a:t>使用ボタン：</a:t>
            </a:r>
            <a:r>
              <a:rPr lang="en-US" altLang="ja-JP" dirty="0"/>
              <a:t>CE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A6D22B11-BD5A-6670-6FD3-B1B98673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99" y="2394500"/>
            <a:ext cx="2595128" cy="4252964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155D7F38-75C5-AD44-C115-D48845CC2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43" y="2394499"/>
            <a:ext cx="2600987" cy="4252965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A1354205-AF70-1BA5-1ADF-822782964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572" y="2394500"/>
            <a:ext cx="2595128" cy="425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31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CCB4-4A72-2055-AF77-415B6C7B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C7BEC5-4C4A-29ED-CC8E-6357663B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2.</a:t>
            </a:r>
            <a:r>
              <a:rPr lang="ja-JP" altLang="en-US" dirty="0"/>
              <a:t>左辺の入力値の特殊計算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AECEA2A-2FFA-1B3E-7081-C07758861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44433"/>
            <a:ext cx="2915945" cy="477872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79AE73-FB10-67FD-9056-5633DF50E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184" y="1844434"/>
            <a:ext cx="2883874" cy="477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94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8D95-0D31-4561-1A90-D38FC651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AAF185-F88B-8F35-A99D-F36D9D01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3.</a:t>
            </a:r>
            <a:r>
              <a:rPr lang="ja-JP" altLang="en-US" dirty="0"/>
              <a:t>演算子入力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7342480-1D16-B5F3-A30B-2F2E5D7EF035}"/>
              </a:ext>
            </a:extLst>
          </p:cNvPr>
          <p:cNvSpPr txBox="1"/>
          <p:nvPr/>
        </p:nvSpPr>
        <p:spPr>
          <a:xfrm>
            <a:off x="3587461" y="2072892"/>
            <a:ext cx="3904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■演算子を決定する</a:t>
            </a:r>
          </a:p>
          <a:p>
            <a:r>
              <a:rPr lang="en-US" altLang="ja-JP" dirty="0"/>
              <a:t>※</a:t>
            </a:r>
            <a:r>
              <a:rPr lang="ja-JP" altLang="en-US" dirty="0"/>
              <a:t>後に押した演算子で上書き可能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629F396-2A63-04B5-D440-F201DFBD3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582" y="2719223"/>
            <a:ext cx="2426418" cy="193869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925278-6142-FB27-42DA-6713AD1A1316}"/>
              </a:ext>
            </a:extLst>
          </p:cNvPr>
          <p:cNvSpPr txBox="1"/>
          <p:nvPr/>
        </p:nvSpPr>
        <p:spPr>
          <a:xfrm>
            <a:off x="6178121" y="2916761"/>
            <a:ext cx="406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+</a:t>
            </a:r>
            <a:r>
              <a:rPr lang="ja-JP" altLang="en-US" dirty="0"/>
              <a:t>ボタンを押し、演算子が入力された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FCA479-3132-B05C-F28E-F134F9E8F676}"/>
              </a:ext>
            </a:extLst>
          </p:cNvPr>
          <p:cNvSpPr txBox="1"/>
          <p:nvPr/>
        </p:nvSpPr>
        <p:spPr>
          <a:xfrm>
            <a:off x="6178121" y="4098217"/>
            <a:ext cx="5166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-</a:t>
            </a:r>
            <a:r>
              <a:rPr lang="ja-JP" altLang="en-US" dirty="0"/>
              <a:t>ボタンを押したことで、演算子が上書きされた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42BFD86-624A-42E4-CD28-CC9505D4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2066795"/>
            <a:ext cx="2700762" cy="44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8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C4D62-1AB9-6D0F-788D-D12FD16D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131C9-A7B0-12D3-B30D-512F7AEE1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4.</a:t>
            </a:r>
            <a:r>
              <a:rPr lang="ja-JP" altLang="en-US" dirty="0"/>
              <a:t>右辺の入力値作成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9401DB-2EE5-FA24-521E-E2B599A759D7}"/>
              </a:ext>
            </a:extLst>
          </p:cNvPr>
          <p:cNvSpPr txBox="1"/>
          <p:nvPr/>
        </p:nvSpPr>
        <p:spPr>
          <a:xfrm>
            <a:off x="379957" y="1903956"/>
            <a:ext cx="11432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ボタンの使用方法は「</a:t>
            </a:r>
            <a:r>
              <a:rPr lang="en-US" altLang="ja-JP" dirty="0"/>
              <a:t>1.</a:t>
            </a:r>
            <a:r>
              <a:rPr lang="ja-JP" altLang="en-US" dirty="0"/>
              <a:t>左辺の入力値作成」と同様のため省略</a:t>
            </a:r>
          </a:p>
          <a:p>
            <a:r>
              <a:rPr lang="ja-JP" altLang="en-US" dirty="0"/>
              <a:t>サブディスプレイには、項目</a:t>
            </a:r>
            <a:r>
              <a:rPr lang="en-US" altLang="ja-JP" dirty="0"/>
              <a:t>1~3</a:t>
            </a:r>
            <a:r>
              <a:rPr lang="ja-JP" altLang="en-US" dirty="0"/>
              <a:t>で入力した情報が表示される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例）ボタン「</a:t>
            </a:r>
            <a:r>
              <a:rPr lang="en-US" altLang="ja-JP" dirty="0"/>
              <a:t>9</a:t>
            </a:r>
            <a:r>
              <a:rPr lang="ja-JP" altLang="en-US" dirty="0"/>
              <a:t>」を押下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BF2BE9A1-DBFA-65F0-149A-85A555DC0DB6}"/>
              </a:ext>
            </a:extLst>
          </p:cNvPr>
          <p:cNvSpPr/>
          <p:nvPr/>
        </p:nvSpPr>
        <p:spPr>
          <a:xfrm>
            <a:off x="6710802" y="3429470"/>
            <a:ext cx="5269916" cy="1329780"/>
          </a:xfrm>
          <a:prstGeom prst="wedgeRectCallout">
            <a:avLst>
              <a:gd name="adj1" fmla="val -53097"/>
              <a:gd name="adj2" fmla="val -725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/>
              <a:t>※</a:t>
            </a:r>
          </a:p>
          <a:p>
            <a:r>
              <a:rPr kumimoji="1" lang="ja-JP" altLang="en-US" dirty="0"/>
              <a:t>・入力した値は</a:t>
            </a:r>
            <a:r>
              <a:rPr lang="ja-JP" altLang="en-US" dirty="0"/>
              <a:t>メインディスプレイに表示される</a:t>
            </a:r>
            <a:endParaRPr lang="en-US" altLang="ja-JP" dirty="0"/>
          </a:p>
          <a:p>
            <a:r>
              <a:rPr kumimoji="1" lang="ja-JP" altLang="en-US" dirty="0"/>
              <a:t>・サブディスプレイには</a:t>
            </a:r>
            <a:r>
              <a:rPr lang="ja-JP" altLang="en-US" dirty="0"/>
              <a:t>表示されない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767B75C-076D-DB98-4C64-1CB93E338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865" y="2774800"/>
            <a:ext cx="2425135" cy="39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8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73137-0B61-F937-E773-F4426F46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362DC7-B14F-0F96-2E19-52FA6E07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5.</a:t>
            </a:r>
            <a:r>
              <a:rPr lang="ja-JP" altLang="en-US" dirty="0"/>
              <a:t>右辺の入力値の特種計算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0A9341-6B7D-6FE4-7F5E-DE4ABBEC9924}"/>
              </a:ext>
            </a:extLst>
          </p:cNvPr>
          <p:cNvSpPr txBox="1"/>
          <p:nvPr/>
        </p:nvSpPr>
        <p:spPr>
          <a:xfrm>
            <a:off x="379957" y="1903956"/>
            <a:ext cx="11432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00000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※</a:t>
            </a:r>
            <a:r>
              <a:rPr lang="ja-JP" altLang="en-US" dirty="0">
                <a:solidFill>
                  <a:srgbClr val="00000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ボタンの使用方法、サブディスプレイに表示される情報については</a:t>
            </a:r>
            <a:endParaRPr lang="en-US" altLang="ja-JP" dirty="0">
              <a:solidFill>
                <a:srgbClr val="00000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  <a:p>
            <a:r>
              <a:rPr lang="ja-JP" altLang="en-US" dirty="0">
                <a:solidFill>
                  <a:srgbClr val="00000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</a:t>
            </a:r>
            <a:r>
              <a:rPr lang="en-US" altLang="ja-JP" dirty="0">
                <a:solidFill>
                  <a:srgbClr val="00000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2.</a:t>
            </a:r>
            <a:r>
              <a:rPr lang="ja-JP" altLang="en-US" dirty="0">
                <a:solidFill>
                  <a:srgbClr val="00000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左辺の入力値の特殊計算」と同様のため省略</a:t>
            </a:r>
            <a:endParaRPr lang="en-US" altLang="ja-JP" dirty="0">
              <a:solidFill>
                <a:srgbClr val="00000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  <a:p>
            <a:endParaRPr lang="en-US" altLang="ja-JP" dirty="0">
              <a:solidFill>
                <a:srgbClr val="000000"/>
              </a:solidFill>
              <a:effectLst/>
              <a:latin typeface="Yu Gothic" panose="020B0400000000000000" pitchFamily="50" charset="-128"/>
              <a:ea typeface="Yu Gothic" panose="020B0400000000000000" pitchFamily="50" charset="-128"/>
            </a:endParaRPr>
          </a:p>
          <a:p>
            <a:r>
              <a:rPr lang="ja-JP" altLang="en-US" dirty="0"/>
              <a:t>例）ボタン「</a:t>
            </a:r>
            <a:r>
              <a:rPr lang="en-US" altLang="ja-JP" dirty="0"/>
              <a:t>X2</a:t>
            </a:r>
            <a:r>
              <a:rPr lang="ja-JP" altLang="en-US" dirty="0"/>
              <a:t>」を押下</a:t>
            </a:r>
            <a:r>
              <a:rPr lang="ja-JP" altLang="en-US" dirty="0">
                <a:effectLst/>
              </a:rPr>
              <a:t> </a:t>
            </a:r>
            <a:endParaRPr lang="ja-JP" altLang="en-US" dirty="0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018A7119-A2F3-E69B-C2A5-5CA2923A2D64}"/>
              </a:ext>
            </a:extLst>
          </p:cNvPr>
          <p:cNvSpPr/>
          <p:nvPr/>
        </p:nvSpPr>
        <p:spPr>
          <a:xfrm>
            <a:off x="6619009" y="3317553"/>
            <a:ext cx="5299363" cy="1329780"/>
          </a:xfrm>
          <a:prstGeom prst="wedgeRectCallout">
            <a:avLst>
              <a:gd name="adj1" fmla="val -53097"/>
              <a:gd name="adj2" fmla="val -725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/>
              <a:t>※</a:t>
            </a:r>
          </a:p>
          <a:p>
            <a:r>
              <a:rPr kumimoji="1" lang="ja-JP" altLang="en-US" dirty="0"/>
              <a:t>・実数値がメインディスプレイに表示</a:t>
            </a:r>
            <a:endParaRPr kumimoji="1" lang="en-US" altLang="ja-JP" dirty="0"/>
          </a:p>
          <a:p>
            <a:r>
              <a:rPr lang="ja-JP" altLang="en-US" dirty="0"/>
              <a:t>・特種計算によるコマンドが</a:t>
            </a:r>
            <a:endParaRPr lang="en-US" altLang="ja-JP" dirty="0"/>
          </a:p>
          <a:p>
            <a:r>
              <a:rPr lang="ja-JP" altLang="en-US" dirty="0"/>
              <a:t>　サブディスプレイに式として表示される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D406D6D-1E31-297E-A018-13AF85759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774" y="2677537"/>
            <a:ext cx="2407226" cy="39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52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AFF8-F13D-B9EB-5B26-2F7A559B1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414A3-F71A-CFC4-A190-8EE511B4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6.</a:t>
            </a:r>
            <a:r>
              <a:rPr lang="ja-JP" altLang="en-US" dirty="0"/>
              <a:t>途中計算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429828-0922-7B54-C005-178F3C000525}"/>
              </a:ext>
            </a:extLst>
          </p:cNvPr>
          <p:cNvSpPr txBox="1"/>
          <p:nvPr/>
        </p:nvSpPr>
        <p:spPr>
          <a:xfrm>
            <a:off x="379957" y="1903956"/>
            <a:ext cx="1143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■式ができている状態で演算子ボタンが押されると、途中計算が行われる</a:t>
            </a:r>
          </a:p>
          <a:p>
            <a:r>
              <a:rPr lang="ja-JP" altLang="en-US" dirty="0"/>
              <a:t>以前の演算子で計算が行われ、演算子が更新される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9AB97F9-3201-AB25-83C2-C45ED5710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76" y="2920818"/>
            <a:ext cx="2796130" cy="3572057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32C8E79-E13A-E66B-6775-F957BF8B707F}"/>
              </a:ext>
            </a:extLst>
          </p:cNvPr>
          <p:cNvSpPr txBox="1"/>
          <p:nvPr/>
        </p:nvSpPr>
        <p:spPr>
          <a:xfrm>
            <a:off x="3582270" y="4245181"/>
            <a:ext cx="8149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演算子ボタンを押すことで、前回設定されていた演算子での計算が行われる</a:t>
            </a:r>
          </a:p>
          <a:p>
            <a:r>
              <a:rPr lang="ja-JP" altLang="en-US" dirty="0"/>
              <a:t>計算結果が左辺値となり、演算子が今回押されたもので更新される</a:t>
            </a:r>
          </a:p>
          <a:p>
            <a:r>
              <a:rPr lang="ja-JP" altLang="en-US" dirty="0"/>
              <a:t>ディスプレイが更新される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D6DC1C3-5786-C5D6-F9F9-406121CBCEBB}"/>
              </a:ext>
            </a:extLst>
          </p:cNvPr>
          <p:cNvSpPr txBox="1"/>
          <p:nvPr/>
        </p:nvSpPr>
        <p:spPr>
          <a:xfrm>
            <a:off x="3582270" y="5620435"/>
            <a:ext cx="8429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処理が「</a:t>
            </a:r>
            <a:r>
              <a:rPr lang="en-US" altLang="ja-JP" dirty="0"/>
              <a:t>3.</a:t>
            </a:r>
            <a:r>
              <a:rPr lang="ja-JP" altLang="en-US" dirty="0"/>
              <a:t>演算子入力」に戻っているため、演算子ボタンを押すと上書きされる</a:t>
            </a:r>
          </a:p>
        </p:txBody>
      </p:sp>
    </p:spTree>
    <p:extLst>
      <p:ext uri="{BB962C8B-B14F-4D97-AF65-F5344CB8AC3E}">
        <p14:creationId xmlns:p14="http://schemas.microsoft.com/office/powerpoint/2010/main" val="79149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9653-319A-B90F-F711-8CC7917E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8072EC-E132-84AB-2957-FB9B12D74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7.</a:t>
            </a:r>
            <a:r>
              <a:rPr lang="ja-JP" altLang="en-US" dirty="0"/>
              <a:t>計算実行 </a:t>
            </a:r>
            <a:r>
              <a:rPr lang="en-US" altLang="ja-JP" dirty="0"/>
              <a:t>1/4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5AC478-EA4D-5B15-6842-0C3830F8B49C}"/>
              </a:ext>
            </a:extLst>
          </p:cNvPr>
          <p:cNvSpPr txBox="1"/>
          <p:nvPr/>
        </p:nvSpPr>
        <p:spPr>
          <a:xfrm>
            <a:off x="379957" y="1903956"/>
            <a:ext cx="1143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</a:t>
            </a:r>
            <a:r>
              <a:rPr lang="en-US" altLang="ja-JP" dirty="0"/>
              <a:t>=</a:t>
            </a:r>
            <a:r>
              <a:rPr lang="ja-JP" altLang="en-US" dirty="0"/>
              <a:t>ボタンを押すと計算結果が出力される</a:t>
            </a:r>
            <a:endParaRPr lang="en-US" altLang="ja-JP" dirty="0"/>
          </a:p>
          <a:p>
            <a:r>
              <a:rPr lang="en-US" altLang="ja-JP" dirty="0"/>
              <a:t>1.</a:t>
            </a:r>
            <a:r>
              <a:rPr lang="ja-JP" altLang="en-US" dirty="0"/>
              <a:t>左辺値のみの場合、その値が計算結果となる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E767E57-ACB9-BB0E-333C-C80787F0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258" y="3056237"/>
            <a:ext cx="3949483" cy="314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20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EDF7-B554-9AB7-92B5-ED7B8263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47A259-588E-A0AF-2D78-520822E5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7.</a:t>
            </a:r>
            <a:r>
              <a:rPr lang="ja-JP" altLang="en-US" dirty="0"/>
              <a:t>計算実行 </a:t>
            </a:r>
            <a:r>
              <a:rPr lang="en-US" altLang="ja-JP" dirty="0"/>
              <a:t>2/4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57EB84-DE39-0FF1-7A7F-81EA1CE256B9}"/>
              </a:ext>
            </a:extLst>
          </p:cNvPr>
          <p:cNvSpPr txBox="1"/>
          <p:nvPr/>
        </p:nvSpPr>
        <p:spPr>
          <a:xfrm>
            <a:off x="379957" y="1903956"/>
            <a:ext cx="1143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</a:t>
            </a:r>
            <a:r>
              <a:rPr lang="en-US" altLang="ja-JP" dirty="0"/>
              <a:t>=</a:t>
            </a:r>
            <a:r>
              <a:rPr lang="ja-JP" altLang="en-US" dirty="0"/>
              <a:t>ボタンを押すと計算結果が出力される</a:t>
            </a:r>
            <a:endParaRPr lang="en-US" altLang="ja-JP" dirty="0"/>
          </a:p>
          <a:p>
            <a:r>
              <a:rPr lang="en-US" altLang="ja-JP" dirty="0"/>
              <a:t>2.</a:t>
            </a:r>
            <a:r>
              <a:rPr lang="ja-JP" altLang="en-US" dirty="0"/>
              <a:t>左辺値と演算子のみの場合、右辺値に左辺値が入り計算される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61E8D8-9D65-6F06-041A-B8B25F7CD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645" y="3117273"/>
            <a:ext cx="3964710" cy="316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10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BF97-E229-407E-15BE-201568EC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FAC00C-A7EB-CF63-5EBD-5C989CDC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7.</a:t>
            </a:r>
            <a:r>
              <a:rPr lang="ja-JP" altLang="en-US" dirty="0"/>
              <a:t>計算実行 </a:t>
            </a:r>
            <a:r>
              <a:rPr lang="en-US" altLang="ja-JP" dirty="0"/>
              <a:t>3/4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782B1E-B8E5-44B6-E3FE-CF18350071CE}"/>
              </a:ext>
            </a:extLst>
          </p:cNvPr>
          <p:cNvSpPr txBox="1"/>
          <p:nvPr/>
        </p:nvSpPr>
        <p:spPr>
          <a:xfrm>
            <a:off x="379957" y="1903956"/>
            <a:ext cx="1143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</a:t>
            </a:r>
            <a:r>
              <a:rPr lang="en-US" altLang="ja-JP" dirty="0"/>
              <a:t>=</a:t>
            </a:r>
            <a:r>
              <a:rPr lang="ja-JP" altLang="en-US" dirty="0"/>
              <a:t>ボタンを押すと計算結果が出力される</a:t>
            </a:r>
            <a:endParaRPr lang="en-US" altLang="ja-JP" dirty="0"/>
          </a:p>
          <a:p>
            <a:r>
              <a:rPr lang="en-US" altLang="ja-JP" dirty="0"/>
              <a:t>3.</a:t>
            </a:r>
            <a:r>
              <a:rPr lang="ja-JP" altLang="en-US" dirty="0"/>
              <a:t>式が完成している場合、そのまま計算結果が出力される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BFC62D8-3DEF-ACFD-93F0-1F6F6A263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823" y="3138109"/>
            <a:ext cx="3866354" cy="307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66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8FD5-823A-0946-E943-B16F5945E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6C289B-8AF9-B9DD-F888-F1DEB663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7.</a:t>
            </a:r>
            <a:r>
              <a:rPr lang="ja-JP" altLang="en-US" dirty="0"/>
              <a:t>計算実行 </a:t>
            </a:r>
            <a:r>
              <a:rPr lang="en-US" altLang="ja-JP" dirty="0"/>
              <a:t>4/4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41B7CB-7465-D24E-5ECD-D09DDFC423A0}"/>
              </a:ext>
            </a:extLst>
          </p:cNvPr>
          <p:cNvSpPr txBox="1"/>
          <p:nvPr/>
        </p:nvSpPr>
        <p:spPr>
          <a:xfrm>
            <a:off x="379957" y="1903956"/>
            <a:ext cx="1143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■</a:t>
            </a:r>
            <a:r>
              <a:rPr lang="en-US" altLang="ja-JP" dirty="0"/>
              <a:t>=</a:t>
            </a:r>
            <a:r>
              <a:rPr lang="ja-JP" altLang="en-US" dirty="0"/>
              <a:t>ボタンを押すと計算結果が出力される</a:t>
            </a:r>
            <a:endParaRPr lang="en-US" altLang="ja-JP" dirty="0"/>
          </a:p>
          <a:p>
            <a:r>
              <a:rPr lang="en-US" altLang="ja-JP" dirty="0"/>
              <a:t>'4.= </a:t>
            </a:r>
            <a:r>
              <a:rPr lang="ja-JP" altLang="en-US" dirty="0"/>
              <a:t>で計算結果を出した後</a:t>
            </a:r>
            <a:r>
              <a:rPr lang="en-US" altLang="ja-JP" dirty="0"/>
              <a:t>,</a:t>
            </a:r>
            <a:r>
              <a:rPr lang="ja-JP" altLang="en-US" dirty="0"/>
              <a:t>もう一度 </a:t>
            </a:r>
            <a:r>
              <a:rPr lang="en-US" altLang="ja-JP" dirty="0"/>
              <a:t>= </a:t>
            </a:r>
            <a:r>
              <a:rPr lang="ja-JP" altLang="en-US" dirty="0"/>
              <a:t>を押すと、左辺に計算結果が代入された状態で再度計算が行われる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11EED62-8FA9-7C74-7FC9-450CB35A6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73" y="3104534"/>
            <a:ext cx="3980654" cy="318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18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AE65-F7FE-E4B8-FA6D-29DB9F4C7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80FA8-272C-6276-610D-2E4E219F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8.</a:t>
            </a:r>
            <a:r>
              <a:rPr lang="ja-JP" altLang="en-US" dirty="0"/>
              <a:t>エラー処理 </a:t>
            </a:r>
            <a:r>
              <a:rPr lang="en-US" altLang="ja-JP" dirty="0"/>
              <a:t>1/2</a:t>
            </a:r>
            <a:r>
              <a:rPr lang="ja-JP" altLang="en-US" dirty="0"/>
              <a:t>：エラーの種類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C77D1D-5160-70E1-F55E-7D17A092D594}"/>
              </a:ext>
            </a:extLst>
          </p:cNvPr>
          <p:cNvSpPr txBox="1"/>
          <p:nvPr/>
        </p:nvSpPr>
        <p:spPr>
          <a:xfrm>
            <a:off x="379957" y="1903956"/>
            <a:ext cx="1143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※</a:t>
            </a:r>
            <a:r>
              <a:rPr kumimoji="1" lang="ja-JP" altLang="en-US" b="1" dirty="0">
                <a:solidFill>
                  <a:srgbClr val="FF0000"/>
                </a:solidFill>
              </a:rPr>
              <a:t>処理エラーが発生した場合も、アプリケーションの動作は続けられるよう設計されている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F6148D-FE2C-3EB0-B4DE-18B3FB628CC9}"/>
              </a:ext>
            </a:extLst>
          </p:cNvPr>
          <p:cNvSpPr txBox="1"/>
          <p:nvPr/>
        </p:nvSpPr>
        <p:spPr>
          <a:xfrm>
            <a:off x="379957" y="248655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Yu Gothic" panose="020B0400000000000000" pitchFamily="50" charset="-128"/>
                <a:ea typeface="Yu Gothic" panose="020B0400000000000000" pitchFamily="50" charset="-128"/>
              </a:rPr>
              <a:t>■０除算によるエラー</a:t>
            </a:r>
            <a:r>
              <a:rPr lang="ja-JP" altLang="en-US" dirty="0">
                <a:effectLst/>
              </a:rPr>
              <a:t> </a:t>
            </a:r>
            <a:endParaRPr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87F88CB-9DB9-E940-3316-EC16CE5DE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57" y="2855888"/>
            <a:ext cx="3842176" cy="121636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67FBE3F-4B76-CF50-653F-AD24A0860564}"/>
              </a:ext>
            </a:extLst>
          </p:cNvPr>
          <p:cNvSpPr txBox="1"/>
          <p:nvPr/>
        </p:nvSpPr>
        <p:spPr>
          <a:xfrm>
            <a:off x="379957" y="4400047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0" i="0" u="none" strike="noStrike" dirty="0">
                <a:solidFill>
                  <a:srgbClr val="000000"/>
                </a:solidFill>
                <a:effectLst/>
                <a:latin typeface="Yu Gothic" panose="020B0400000000000000" pitchFamily="50" charset="-128"/>
                <a:ea typeface="Yu Gothic" panose="020B0400000000000000" pitchFamily="50" charset="-128"/>
              </a:rPr>
              <a:t>■負の値の平方根</a:t>
            </a:r>
            <a:r>
              <a:rPr lang="ja-JP" altLang="en-US" dirty="0">
                <a:effectLst/>
              </a:rPr>
              <a:t> </a:t>
            </a:r>
            <a:endParaRPr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1BE1E69-6543-7011-7978-00536A8CA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57" y="4769379"/>
            <a:ext cx="3842176" cy="121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34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4FAD-06A8-0530-F269-72F2B8E3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6347B8-5A9A-7E5B-8268-B3690885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8.</a:t>
            </a:r>
            <a:r>
              <a:rPr lang="ja-JP" altLang="en-US" dirty="0"/>
              <a:t>エラー処理 </a:t>
            </a:r>
            <a:r>
              <a:rPr lang="en-US" altLang="ja-JP" dirty="0"/>
              <a:t>2/2</a:t>
            </a:r>
            <a:r>
              <a:rPr lang="ja-JP" altLang="en-US" dirty="0"/>
              <a:t>：エラー時の電卓画面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365CF4-FF5E-DB09-A976-61D9A82E7955}"/>
              </a:ext>
            </a:extLst>
          </p:cNvPr>
          <p:cNvSpPr txBox="1"/>
          <p:nvPr/>
        </p:nvSpPr>
        <p:spPr>
          <a:xfrm>
            <a:off x="379957" y="1903956"/>
            <a:ext cx="11432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以下の灰色になったボタンは</a:t>
            </a:r>
            <a:r>
              <a:rPr lang="ja-JP" altLang="en-US" b="1" dirty="0"/>
              <a:t>ロック</a:t>
            </a:r>
            <a:r>
              <a:rPr lang="ja-JP" altLang="en-US" dirty="0"/>
              <a:t>され、使用できなくなっている</a:t>
            </a:r>
          </a:p>
          <a:p>
            <a:r>
              <a:rPr lang="ja-JP" altLang="en-US" dirty="0"/>
              <a:t>その他のボタンを押すと</a:t>
            </a:r>
            <a:r>
              <a:rPr lang="ja-JP" altLang="en-US" b="1" dirty="0"/>
              <a:t>ロック</a:t>
            </a:r>
            <a:r>
              <a:rPr lang="ja-JP" altLang="en-US" dirty="0"/>
              <a:t>が解除され、押されたボタンによる処理が実行される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B15C2D4-3001-0B78-E7A1-6C375969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453" y="2550287"/>
            <a:ext cx="5595094" cy="406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94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45F3-8110-762D-153D-E5A0B5A4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5887EF-67BF-E305-F7B6-51CB3D920B1D}"/>
              </a:ext>
            </a:extLst>
          </p:cNvPr>
          <p:cNvSpPr txBox="1"/>
          <p:nvPr/>
        </p:nvSpPr>
        <p:spPr>
          <a:xfrm>
            <a:off x="5542002" y="2828835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 dirty="0"/>
              <a:t>完</a:t>
            </a:r>
            <a:endParaRPr kumimoji="1" lang="ja-JP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510642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936</Words>
  <Application>Microsoft Office PowerPoint</Application>
  <PresentationFormat>ワイド画面</PresentationFormat>
  <Paragraphs>117</Paragraphs>
  <Slides>23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8" baseType="lpstr">
      <vt:lpstr>游ゴシック</vt:lpstr>
      <vt:lpstr>游ゴシック</vt:lpstr>
      <vt:lpstr>游ゴシック Light</vt:lpstr>
      <vt:lpstr>Arial</vt:lpstr>
      <vt:lpstr>Office テーマ</vt:lpstr>
      <vt:lpstr>Python GUI 電卓アプリケーション</vt:lpstr>
      <vt:lpstr>目次</vt:lpstr>
      <vt:lpstr>PowerPoint プレゼンテーション</vt:lpstr>
      <vt:lpstr>画面説明 1/2：電卓画面</vt:lpstr>
      <vt:lpstr>画面説明 2/2：ボタン説明</vt:lpstr>
      <vt:lpstr>アプリ仕様について 1/3：画面の拡大縮小</vt:lpstr>
      <vt:lpstr>アプリ仕様について 2/3：入力可能桁数</vt:lpstr>
      <vt:lpstr>アプリ仕様について 3/3：桁数溢れ時の処理</vt:lpstr>
      <vt:lpstr>処理の流れ：Phase変移図</vt:lpstr>
      <vt:lpstr>PowerPoint プレゼンテーション</vt:lpstr>
      <vt:lpstr>1.左辺の入力値作成</vt:lpstr>
      <vt:lpstr>2.左辺の入力値の特殊計算</vt:lpstr>
      <vt:lpstr>3.演算子入力</vt:lpstr>
      <vt:lpstr>4.右辺の入力値作成</vt:lpstr>
      <vt:lpstr>5.右辺の入力値の特種計算</vt:lpstr>
      <vt:lpstr>6.途中計算</vt:lpstr>
      <vt:lpstr>7.計算実行 1/4</vt:lpstr>
      <vt:lpstr>7.計算実行 2/4</vt:lpstr>
      <vt:lpstr>7.計算実行 3/4</vt:lpstr>
      <vt:lpstr>7.計算実行 4/4</vt:lpstr>
      <vt:lpstr>8.エラー処理 1/2：エラーの種類</vt:lpstr>
      <vt:lpstr>8.エラー処理 2/2：エラー時の電卓画面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僚也 小野</dc:creator>
  <cp:lastModifiedBy>僚也 小野</cp:lastModifiedBy>
  <cp:revision>17</cp:revision>
  <dcterms:created xsi:type="dcterms:W3CDTF">2026-06-26T02:31:53Z</dcterms:created>
  <dcterms:modified xsi:type="dcterms:W3CDTF">2026-06-26T08:40:08Z</dcterms:modified>
</cp:coreProperties>
</file>